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47412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1994" y="4255790"/>
            <a:ext cx="10080962" cy="9141549"/>
          </a:xfrm>
          <a:prstGeom prst="rect">
            <a:avLst/>
          </a:prstGeom>
          <a:solidFill>
            <a:srgbClr val="E3F2FD"/>
          </a:solidFill>
          <a:ln w="317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994" y="3947805"/>
            <a:ext cx="10080962" cy="279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565C0"/>
                </a:solidFill>
              </a:rPr>
              <a:t>Phase 2 · LLM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72943" y="1595921"/>
            <a:ext cx="5538914" cy="6901660"/>
          </a:xfrm>
          <a:prstGeom prst="rect">
            <a:avLst/>
          </a:prstGeom>
          <a:solidFill>
            <a:srgbClr val="F3E5F5"/>
          </a:solidFill>
          <a:ln w="317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2943" y="1287936"/>
            <a:ext cx="5538914" cy="2799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7B1FA2"/>
                </a:solidFill>
              </a:rPr>
              <a:t>Phase 1 · Baseline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42877" y="111994"/>
            <a:ext cx="3639820" cy="1175942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Input</a:t>
            </a:r>
          </a:p>
          <a:p>
            <a:pPr algn="ctr"/>
            <a:r>
              <a:rPr sz="900"/>
              <a:t>≥ 2 human ratings per item, LLM scores on shared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63724" y="1749913"/>
            <a:ext cx="3424143" cy="923954"/>
          </a:xfrm>
          <a:prstGeom prst="rect">
            <a:avLst/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Monte Carlo Robustness</a:t>
            </a:r>
          </a:p>
          <a:p>
            <a:pPr algn="ctr"/>
            <a:r>
              <a:rPr sz="900"/>
              <a:t>Random judge vs humans, all data</a:t>
            </a:r>
          </a:p>
        </p:txBody>
      </p:sp>
      <p:sp>
        <p:nvSpPr>
          <p:cNvPr id="8" name="Hexagon 7"/>
          <p:cNvSpPr/>
          <p:nvPr/>
        </p:nvSpPr>
        <p:spPr>
          <a:xfrm>
            <a:off x="11595622" y="2981853"/>
            <a:ext cx="1734602" cy="713964"/>
          </a:xfrm>
          <a:prstGeom prst="hexagon">
            <a:avLst/>
          </a:prstGeom>
          <a:solidFill>
            <a:srgbClr val="CE93D8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91883" y="4409782"/>
            <a:ext cx="3639820" cy="1427929"/>
          </a:xfrm>
          <a:prstGeom prst="rect">
            <a:avLst/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Stability Analysis</a:t>
            </a:r>
          </a:p>
          <a:p>
            <a:pPr algn="ctr"/>
            <a:r>
              <a:rPr sz="900"/>
              <a:t>Random judge vs humans</a:t>
            </a:r>
          </a:p>
          <a:p>
            <a:pPr algn="ctr"/>
            <a:r>
              <a:rPr sz="900"/>
              <a:t>5% → ~1000%, estimate data for ~80%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3941" y="6271691"/>
            <a:ext cx="2195704" cy="671966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Collect more data</a:t>
            </a:r>
          </a:p>
        </p:txBody>
      </p:sp>
      <p:sp>
        <p:nvSpPr>
          <p:cNvPr id="11" name="Hexagon 10"/>
          <p:cNvSpPr/>
          <p:nvPr/>
        </p:nvSpPr>
        <p:spPr>
          <a:xfrm>
            <a:off x="13094040" y="7629624"/>
            <a:ext cx="1963512" cy="713964"/>
          </a:xfrm>
          <a:prstGeom prst="hexagon">
            <a:avLst/>
          </a:prstGeom>
          <a:solidFill>
            <a:srgbClr val="CE93D8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11883" y="9183547"/>
            <a:ext cx="3527826" cy="671966"/>
          </a:xfrm>
          <a:prstGeom prst="rect">
            <a:avLst/>
          </a:prstGeom>
          <a:solidFill>
            <a:srgbClr val="FFCDD2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Annotation process likely erroneous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1968" y="4535776"/>
            <a:ext cx="2769238" cy="1175942"/>
          </a:xfrm>
          <a:prstGeom prst="rect">
            <a:avLst/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Compute distributions</a:t>
            </a:r>
          </a:p>
          <a:p>
            <a:pPr algn="ctr"/>
            <a:r>
              <a:rPr sz="900"/>
              <a:t>Human–Human: |Hᵢ − Hⱼ|</a:t>
            </a:r>
          </a:p>
          <a:p>
            <a:pPr algn="ctr"/>
            <a:r>
              <a:rPr sz="900"/>
              <a:t>LLM–Human: |LLM − Hᵢ|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962" y="6145697"/>
            <a:ext cx="3450173" cy="923954"/>
          </a:xfrm>
          <a:prstGeom prst="rect">
            <a:avLst/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Mann–Whitney U (one-sided)</a:t>
            </a:r>
          </a:p>
          <a:p>
            <a:pPr algn="ctr"/>
            <a:r>
              <a:rPr sz="900"/>
              <a:t>H₀: mean|LLM−H| ≤ mean|Hᵢ−Hⱼ|</a:t>
            </a:r>
          </a:p>
        </p:txBody>
      </p:sp>
      <p:sp>
        <p:nvSpPr>
          <p:cNvPr id="15" name="Hexagon 14"/>
          <p:cNvSpPr/>
          <p:nvPr/>
        </p:nvSpPr>
        <p:spPr>
          <a:xfrm>
            <a:off x="4710093" y="7755618"/>
            <a:ext cx="1163911" cy="461977"/>
          </a:xfrm>
          <a:prstGeom prst="hexagon">
            <a:avLst/>
          </a:prstGeom>
          <a:solidFill>
            <a:srgbClr val="90CA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2733" y="9057553"/>
            <a:ext cx="2506532" cy="923954"/>
          </a:xfrm>
          <a:prstGeom prst="rect">
            <a:avLst/>
          </a:prstGeom>
          <a:solidFill>
            <a:srgbClr val="FFCDD2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NOT Good Enough</a:t>
            </a:r>
          </a:p>
          <a:p>
            <a:pPr algn="ctr"/>
            <a:r>
              <a:rPr sz="900"/>
              <a:t>Significant divergence</a:t>
            </a:r>
          </a:p>
        </p:txBody>
      </p:sp>
      <p:sp>
        <p:nvSpPr>
          <p:cNvPr id="17" name="Hexagon 16"/>
          <p:cNvSpPr/>
          <p:nvPr/>
        </p:nvSpPr>
        <p:spPr>
          <a:xfrm>
            <a:off x="1850679" y="9162548"/>
            <a:ext cx="3521993" cy="713964"/>
          </a:xfrm>
          <a:prstGeom prst="hexagon">
            <a:avLst/>
          </a:prstGeom>
          <a:solidFill>
            <a:srgbClr val="90CA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728" y="10793468"/>
            <a:ext cx="2623995" cy="923954"/>
          </a:xfrm>
          <a:prstGeom prst="rect">
            <a:avLst/>
          </a:prstGeom>
          <a:solidFill>
            <a:srgbClr val="C8E6C9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Good Enough</a:t>
            </a:r>
          </a:p>
          <a:p>
            <a:pPr algn="ctr"/>
            <a:r>
              <a:rPr sz="900"/>
              <a:t>Small Δ, non-significant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1716" y="10541480"/>
            <a:ext cx="3639820" cy="1427929"/>
          </a:xfrm>
          <a:prstGeom prst="rect">
            <a:avLst/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Stability Analysis: LLM vs humans</a:t>
            </a:r>
          </a:p>
          <a:p>
            <a:pPr algn="ctr"/>
            <a:r>
              <a:rPr sz="900"/>
              <a:t>5% → ~1000%, target: ≥80% acceptance (not worse)</a:t>
            </a:r>
          </a:p>
          <a:p>
            <a:pPr algn="ctr"/>
            <a:r>
              <a:rPr sz="900"/>
              <a:t>or ≤20% acceptance (worse)</a:t>
            </a:r>
          </a:p>
        </p:txBody>
      </p:sp>
      <p:sp>
        <p:nvSpPr>
          <p:cNvPr id="20" name="Hexagon 19"/>
          <p:cNvSpPr/>
          <p:nvPr/>
        </p:nvSpPr>
        <p:spPr>
          <a:xfrm>
            <a:off x="4595766" y="12277395"/>
            <a:ext cx="1331720" cy="965952"/>
          </a:xfrm>
          <a:prstGeom prst="hexagon">
            <a:avLst/>
          </a:prstGeom>
          <a:solidFill>
            <a:srgbClr val="90CAF9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695312" y="10919462"/>
            <a:ext cx="2769457" cy="671966"/>
          </a:xfrm>
          <a:prstGeom prst="rect">
            <a:avLst/>
          </a:prstGeom>
          <a:solidFill>
            <a:srgbClr val="FFE0B2"/>
          </a:solidFill>
          <a:ln w="1905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Improve prompt or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7008" y="13957312"/>
            <a:ext cx="2431286" cy="671966"/>
          </a:xfrm>
          <a:prstGeom prst="rect">
            <a:avLst/>
          </a:prstGeom>
          <a:solidFill>
            <a:srgbClr val="C8E6C9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Good Enough, Robust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63226" y="13957312"/>
            <a:ext cx="2796799" cy="671966"/>
          </a:xfrm>
          <a:prstGeom prst="rect">
            <a:avLst/>
          </a:prstGeom>
          <a:solidFill>
            <a:srgbClr val="FFCDD2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NOT Good Enough, Robust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816919" y="13957312"/>
            <a:ext cx="2195704" cy="671966"/>
          </a:xfrm>
          <a:prstGeom prst="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/>
              <a:t>Collect more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